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1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Samples</c:v>
                </c:pt>
              </c:strCache>
            </c:strRef>
          </c:tx>
          <c:spPr>
            <a:solidFill>
              <a:srgbClr val="02809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7302E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028090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00A896"/>
              </a:solidFill>
              <a:effectLst/>
            </c:spPr>
          </c:dPt>
          <c:cat>
            <c:multiLvlStrRef>
              <c:f>Sheet1!$A$2:$A$3</c:f>
              <c:multiLvlStrCache>
                <c:ptCount val="2"/>
                <c:lvl>
                  <c:pt idx="0">
                    <c:v>Malignant (0)</c:v>
                  </c:pt>
                  <c:pt idx="1">
                    <c:v>Benign (1)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212</c:v>
                </c:pt>
                <c:pt idx="1">
                  <c:v>357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100" u="none">
                  <a:solidFill>
                    <a:srgbClr val="17302E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C7A7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5EFEE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C7A7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3D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784080" y="-1280160"/>
            <a:ext cx="3840480" cy="3840480"/>
          </a:xfrm>
          <a:prstGeom prst="ellipse">
            <a:avLst/>
          </a:prstGeom>
          <a:solidFill>
            <a:srgbClr val="028090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463040" y="4846320"/>
            <a:ext cx="3291840" cy="3291840"/>
          </a:xfrm>
          <a:prstGeom prst="ellipse">
            <a:avLst/>
          </a:prstGeom>
          <a:solidFill>
            <a:srgbClr val="00A896">
              <a:alpha val="4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822960" y="822960"/>
            <a:ext cx="868680" cy="86868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5" name="Image 0" descr="icons/heartbea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1443" y="1031443"/>
            <a:ext cx="451714" cy="45171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22960" y="233172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DOMAIN INTERNSHIP PROJECT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822960" y="2697480"/>
            <a:ext cx="1024128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Breast Cancer Classification</a:t>
            </a:r>
            <a:endParaRPr lang="en-US" sz="40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Using Neural Networks</a:t>
            </a:r>
            <a:endParaRPr lang="en-US" sz="4000" dirty="0"/>
          </a:p>
        </p:txBody>
      </p:sp>
      <p:sp>
        <p:nvSpPr>
          <p:cNvPr id="8" name="Text 5"/>
          <p:cNvSpPr/>
          <p:nvPr/>
        </p:nvSpPr>
        <p:spPr>
          <a:xfrm>
            <a:off x="822960" y="4434840"/>
            <a:ext cx="8686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CFE8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deep learning approach to classifying tumors as benign or malignant,</a:t>
            </a:r>
            <a:endParaRPr lang="en-US" sz="1500" dirty="0"/>
          </a:p>
          <a:p>
            <a:pPr indent="0" marL="0">
              <a:buNone/>
            </a:pPr>
            <a:r>
              <a:rPr lang="en-US" sz="1500" i="1" dirty="0">
                <a:solidFill>
                  <a:srgbClr val="CFE8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on the Breast Cancer Wisconsin (Diagnostic) Dataset.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822960" y="5715000"/>
            <a:ext cx="3840480" cy="0"/>
          </a:xfrm>
          <a:prstGeom prst="line">
            <a:avLst/>
          </a:prstGeom>
          <a:noFill/>
          <a:ln w="19050">
            <a:solidFill>
              <a:srgbClr val="00A896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822960" y="585216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Deepali Das</a:t>
            </a:r>
            <a:endParaRPr lang="en-US" sz="1700" dirty="0"/>
          </a:p>
        </p:txBody>
      </p:sp>
      <p:sp>
        <p:nvSpPr>
          <p:cNvPr id="11" name="Text 8"/>
          <p:cNvSpPr/>
          <p:nvPr/>
        </p:nvSpPr>
        <p:spPr>
          <a:xfrm>
            <a:off x="822960" y="6199632"/>
            <a:ext cx="5943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A9CF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Naviotech Solution Pvt. Ltd.  |  June 2026 Batch</a:t>
            </a:r>
            <a:endParaRPr lang="en-US" sz="12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730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Introduction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58368" y="1115568"/>
            <a:ext cx="457200" cy="54864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4" name="Text 2"/>
          <p:cNvSpPr/>
          <p:nvPr/>
        </p:nvSpPr>
        <p:spPr>
          <a:xfrm>
            <a:off x="685800" y="1554480"/>
            <a:ext cx="585216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550" dirty="0">
                <a:solidFill>
                  <a:srgbClr val="173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Breast cancer is one of the most common cancers affecting women worldwide, and </a:t>
            </a:r>
            <a:pPr indent="0" marL="0">
              <a:lnSpc>
                <a:spcPct val="125000"/>
              </a:lnSpc>
              <a:buNone/>
            </a:pPr>
            <a:r>
              <a:rPr lang="en-US" sz="15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early, accurate diagnosis directly improves survival outcomes.</a:t>
            </a:r>
            <a:endParaRPr lang="en-US" sz="1550" dirty="0"/>
          </a:p>
        </p:txBody>
      </p:sp>
      <p:sp>
        <p:nvSpPr>
          <p:cNvPr id="5" name="Text 3"/>
          <p:cNvSpPr/>
          <p:nvPr/>
        </p:nvSpPr>
        <p:spPr>
          <a:xfrm>
            <a:off x="685800" y="3063240"/>
            <a:ext cx="585216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550" dirty="0">
                <a:solidFill>
                  <a:srgbClr val="5C7A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Artificial Intelligence, particularly neural networks, can learn subtle patterns in cell-nuclei measurements that are difficult for manual review to consistently catch — offering a fast, data-driven second opinion.</a:t>
            </a:r>
            <a:endParaRPr lang="en-US" sz="1550" dirty="0"/>
          </a:p>
        </p:txBody>
      </p:sp>
      <p:sp>
        <p:nvSpPr>
          <p:cNvPr id="6" name="Shape 4"/>
          <p:cNvSpPr/>
          <p:nvPr/>
        </p:nvSpPr>
        <p:spPr>
          <a:xfrm>
            <a:off x="6949440" y="1554480"/>
            <a:ext cx="4480560" cy="4434840"/>
          </a:xfrm>
          <a:prstGeom prst="roundRect">
            <a:avLst>
              <a:gd name="adj" fmla="val 2474"/>
            </a:avLst>
          </a:prstGeom>
          <a:solidFill>
            <a:srgbClr val="F2F8F7"/>
          </a:solidFill>
          <a:ln/>
        </p:spPr>
      </p:sp>
      <p:sp>
        <p:nvSpPr>
          <p:cNvPr id="7" name="Shape 5"/>
          <p:cNvSpPr/>
          <p:nvPr/>
        </p:nvSpPr>
        <p:spPr>
          <a:xfrm>
            <a:off x="7315200" y="1920240"/>
            <a:ext cx="777240" cy="77724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8" name="Image 0" descr="icons/brai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01738" y="2106778"/>
            <a:ext cx="404165" cy="404165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8229600" y="2011680"/>
            <a:ext cx="30175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73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AI for Diagnosis?</a:t>
            </a:r>
            <a:endParaRPr lang="en-US" sz="1550" dirty="0"/>
          </a:p>
        </p:txBody>
      </p:sp>
      <p:sp>
        <p:nvSpPr>
          <p:cNvPr id="10" name="Shape 7"/>
          <p:cNvSpPr/>
          <p:nvPr/>
        </p:nvSpPr>
        <p:spPr>
          <a:xfrm>
            <a:off x="7315200" y="3044952"/>
            <a:ext cx="109728" cy="109728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1" name="Text 8"/>
          <p:cNvSpPr/>
          <p:nvPr/>
        </p:nvSpPr>
        <p:spPr>
          <a:xfrm>
            <a:off x="7571232" y="2898648"/>
            <a:ext cx="361188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173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Detects complex, non-linear patterns in tumor features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7315200" y="3794760"/>
            <a:ext cx="109728" cy="109728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3" name="Text 10"/>
          <p:cNvSpPr/>
          <p:nvPr/>
        </p:nvSpPr>
        <p:spPr>
          <a:xfrm>
            <a:off x="7571232" y="3648456"/>
            <a:ext cx="361188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173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Consistent, repeatable predictions at scale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7315200" y="4544568"/>
            <a:ext cx="109728" cy="109728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5" name="Text 12"/>
          <p:cNvSpPr/>
          <p:nvPr/>
        </p:nvSpPr>
        <p:spPr>
          <a:xfrm>
            <a:off x="7571232" y="4398264"/>
            <a:ext cx="361188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173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Assists (not replaces) clinical decision-making</a:t>
            </a:r>
            <a:endParaRPr lang="en-US" sz="1300" dirty="0"/>
          </a:p>
        </p:txBody>
      </p:sp>
      <p:sp>
        <p:nvSpPr>
          <p:cNvPr id="16" name="Shape 13"/>
          <p:cNvSpPr/>
          <p:nvPr/>
        </p:nvSpPr>
        <p:spPr>
          <a:xfrm>
            <a:off x="7315200" y="5294376"/>
            <a:ext cx="109728" cy="109728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7" name="Text 14"/>
          <p:cNvSpPr/>
          <p:nvPr/>
        </p:nvSpPr>
        <p:spPr>
          <a:xfrm>
            <a:off x="7571232" y="5148072"/>
            <a:ext cx="361188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173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be retrained as new data becomes available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730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 Objectives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58368" y="1115568"/>
            <a:ext cx="457200" cy="54864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4" name="Shape 2"/>
          <p:cNvSpPr/>
          <p:nvPr/>
        </p:nvSpPr>
        <p:spPr>
          <a:xfrm>
            <a:off x="685800" y="1737360"/>
            <a:ext cx="2587752" cy="4206240"/>
          </a:xfrm>
          <a:prstGeom prst="roundRect">
            <a:avLst>
              <a:gd name="adj" fmla="val 4240"/>
            </a:avLst>
          </a:prstGeom>
          <a:solidFill>
            <a:srgbClr val="F2F8F7"/>
          </a:solidFill>
          <a:ln/>
        </p:spPr>
      </p:sp>
      <p:sp>
        <p:nvSpPr>
          <p:cNvPr id="5" name="Shape 3"/>
          <p:cNvSpPr/>
          <p:nvPr/>
        </p:nvSpPr>
        <p:spPr>
          <a:xfrm>
            <a:off x="1591056" y="2103120"/>
            <a:ext cx="777240" cy="77724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6" name="Image 0" descr="icons/databas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77594" y="2289658"/>
            <a:ext cx="404165" cy="404165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50392" y="1901952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C7A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868680" y="3154680"/>
            <a:ext cx="2221992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73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 the Data</a:t>
            </a:r>
            <a:endParaRPr lang="en-US" sz="1450" dirty="0"/>
          </a:p>
        </p:txBody>
      </p:sp>
      <p:sp>
        <p:nvSpPr>
          <p:cNvPr id="9" name="Text 6"/>
          <p:cNvSpPr/>
          <p:nvPr/>
        </p:nvSpPr>
        <p:spPr>
          <a:xfrm>
            <a:off x="886968" y="3886200"/>
            <a:ext cx="2185416" cy="1874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C7A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Load, clean, and standardize the Breast Cancer Wisconsin dataset for modeling.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3529584" y="1737360"/>
            <a:ext cx="2587752" cy="4206240"/>
          </a:xfrm>
          <a:prstGeom prst="roundRect">
            <a:avLst>
              <a:gd name="adj" fmla="val 4240"/>
            </a:avLst>
          </a:prstGeom>
          <a:solidFill>
            <a:srgbClr val="F2F8F7"/>
          </a:solidFill>
          <a:ln/>
        </p:spPr>
      </p:sp>
      <p:sp>
        <p:nvSpPr>
          <p:cNvPr id="11" name="Shape 8"/>
          <p:cNvSpPr/>
          <p:nvPr/>
        </p:nvSpPr>
        <p:spPr>
          <a:xfrm>
            <a:off x="4434840" y="2103120"/>
            <a:ext cx="777240" cy="777240"/>
          </a:xfrm>
          <a:prstGeom prst="ellipse">
            <a:avLst/>
          </a:prstGeom>
          <a:solidFill>
            <a:srgbClr val="00A896"/>
          </a:solidFill>
          <a:ln/>
        </p:spPr>
      </p:sp>
      <p:pic>
        <p:nvPicPr>
          <p:cNvPr id="12" name="Image 1" descr="icons/layer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21378" y="2289658"/>
            <a:ext cx="404165" cy="404165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694176" y="1901952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C7A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200" dirty="0"/>
          </a:p>
        </p:txBody>
      </p:sp>
      <p:sp>
        <p:nvSpPr>
          <p:cNvPr id="14" name="Text 10"/>
          <p:cNvSpPr/>
          <p:nvPr/>
        </p:nvSpPr>
        <p:spPr>
          <a:xfrm>
            <a:off x="3712464" y="3154680"/>
            <a:ext cx="2221992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73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a Neural Network</a:t>
            </a:r>
            <a:endParaRPr lang="en-US" sz="1450" dirty="0"/>
          </a:p>
        </p:txBody>
      </p:sp>
      <p:sp>
        <p:nvSpPr>
          <p:cNvPr id="15" name="Text 11"/>
          <p:cNvSpPr/>
          <p:nvPr/>
        </p:nvSpPr>
        <p:spPr>
          <a:xfrm>
            <a:off x="3730752" y="3886200"/>
            <a:ext cx="2185416" cy="1874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C7A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feed-forward classifier suited to 30 numeric diagnostic features.</a:t>
            </a:r>
            <a:endParaRPr lang="en-US" sz="1150" dirty="0"/>
          </a:p>
        </p:txBody>
      </p:sp>
      <p:sp>
        <p:nvSpPr>
          <p:cNvPr id="16" name="Shape 12"/>
          <p:cNvSpPr/>
          <p:nvPr/>
        </p:nvSpPr>
        <p:spPr>
          <a:xfrm>
            <a:off x="6373368" y="1737360"/>
            <a:ext cx="2587752" cy="4206240"/>
          </a:xfrm>
          <a:prstGeom prst="roundRect">
            <a:avLst>
              <a:gd name="adj" fmla="val 4240"/>
            </a:avLst>
          </a:prstGeom>
          <a:solidFill>
            <a:srgbClr val="F2F8F7"/>
          </a:solidFill>
          <a:ln/>
        </p:spPr>
      </p:sp>
      <p:sp>
        <p:nvSpPr>
          <p:cNvPr id="17" name="Shape 13"/>
          <p:cNvSpPr/>
          <p:nvPr/>
        </p:nvSpPr>
        <p:spPr>
          <a:xfrm>
            <a:off x="7278624" y="2103120"/>
            <a:ext cx="777240" cy="77724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18" name="Image 2" descr="icons/char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65162" y="2289658"/>
            <a:ext cx="404165" cy="404165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6537960" y="1901952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C7A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200" dirty="0"/>
          </a:p>
        </p:txBody>
      </p:sp>
      <p:sp>
        <p:nvSpPr>
          <p:cNvPr id="20" name="Text 15"/>
          <p:cNvSpPr/>
          <p:nvPr/>
        </p:nvSpPr>
        <p:spPr>
          <a:xfrm>
            <a:off x="6556248" y="3154680"/>
            <a:ext cx="2221992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73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&amp; Evaluate</a:t>
            </a:r>
            <a:endParaRPr lang="en-US" sz="1450" dirty="0"/>
          </a:p>
        </p:txBody>
      </p:sp>
      <p:sp>
        <p:nvSpPr>
          <p:cNvPr id="21" name="Text 16"/>
          <p:cNvSpPr/>
          <p:nvPr/>
        </p:nvSpPr>
        <p:spPr>
          <a:xfrm>
            <a:off x="6574536" y="3886200"/>
            <a:ext cx="2185416" cy="1874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C7A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the model and measure accuracy and loss on unseen test data.</a:t>
            </a:r>
            <a:endParaRPr lang="en-US" sz="1150" dirty="0"/>
          </a:p>
        </p:txBody>
      </p:sp>
      <p:sp>
        <p:nvSpPr>
          <p:cNvPr id="22" name="Shape 17"/>
          <p:cNvSpPr/>
          <p:nvPr/>
        </p:nvSpPr>
        <p:spPr>
          <a:xfrm>
            <a:off x="9217152" y="1737360"/>
            <a:ext cx="2587752" cy="4206240"/>
          </a:xfrm>
          <a:prstGeom prst="roundRect">
            <a:avLst>
              <a:gd name="adj" fmla="val 4240"/>
            </a:avLst>
          </a:prstGeom>
          <a:solidFill>
            <a:srgbClr val="F2F8F7"/>
          </a:solidFill>
          <a:ln/>
        </p:spPr>
      </p:sp>
      <p:sp>
        <p:nvSpPr>
          <p:cNvPr id="23" name="Shape 18"/>
          <p:cNvSpPr/>
          <p:nvPr/>
        </p:nvSpPr>
        <p:spPr>
          <a:xfrm>
            <a:off x="10122408" y="2103120"/>
            <a:ext cx="777240" cy="777240"/>
          </a:xfrm>
          <a:prstGeom prst="ellipse">
            <a:avLst/>
          </a:prstGeom>
          <a:solidFill>
            <a:srgbClr val="00A896"/>
          </a:solidFill>
          <a:ln/>
        </p:spPr>
      </p:sp>
      <p:pic>
        <p:nvPicPr>
          <p:cNvPr id="24" name="Image 3" descr="icons/flask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308946" y="2289658"/>
            <a:ext cx="404165" cy="404165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9381744" y="1901952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C7A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200" dirty="0"/>
          </a:p>
        </p:txBody>
      </p:sp>
      <p:sp>
        <p:nvSpPr>
          <p:cNvPr id="26" name="Text 20"/>
          <p:cNvSpPr/>
          <p:nvPr/>
        </p:nvSpPr>
        <p:spPr>
          <a:xfrm>
            <a:off x="9400032" y="3154680"/>
            <a:ext cx="2221992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73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Predictive System</a:t>
            </a:r>
            <a:endParaRPr lang="en-US" sz="1450" dirty="0"/>
          </a:p>
        </p:txBody>
      </p:sp>
      <p:sp>
        <p:nvSpPr>
          <p:cNvPr id="27" name="Text 21"/>
          <p:cNvSpPr/>
          <p:nvPr/>
        </p:nvSpPr>
        <p:spPr>
          <a:xfrm>
            <a:off x="9418320" y="3886200"/>
            <a:ext cx="2185416" cy="1874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C7A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Wrap the trained model so it can classify a new patient sample on demand.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730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Dataset Overview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58368" y="1115568"/>
            <a:ext cx="457200" cy="54864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4" name="Text 2"/>
          <p:cNvSpPr/>
          <p:nvPr/>
        </p:nvSpPr>
        <p:spPr>
          <a:xfrm>
            <a:off x="685800" y="1298448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C7A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Breast Cancer Wisconsin (Diagnostic) Dataset — sourced via scikit-learn / UCI ML Repository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85800" y="1874520"/>
            <a:ext cx="2331720" cy="1371600"/>
          </a:xfrm>
          <a:prstGeom prst="roundRect">
            <a:avLst>
              <a:gd name="adj" fmla="val 6667"/>
            </a:avLst>
          </a:prstGeom>
          <a:solidFill>
            <a:srgbClr val="0B3D3F"/>
          </a:solidFill>
          <a:ln/>
        </p:spPr>
      </p:sp>
      <p:sp>
        <p:nvSpPr>
          <p:cNvPr id="6" name="Text 4"/>
          <p:cNvSpPr/>
          <p:nvPr/>
        </p:nvSpPr>
        <p:spPr>
          <a:xfrm>
            <a:off x="685800" y="1984248"/>
            <a:ext cx="23317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569</a:t>
            </a:r>
            <a:endParaRPr lang="en-US" sz="3800" dirty="0"/>
          </a:p>
        </p:txBody>
      </p:sp>
      <p:sp>
        <p:nvSpPr>
          <p:cNvPr id="7" name="Text 5"/>
          <p:cNvSpPr/>
          <p:nvPr/>
        </p:nvSpPr>
        <p:spPr>
          <a:xfrm>
            <a:off x="685800" y="2788920"/>
            <a:ext cx="2331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Samples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246120" y="1874520"/>
            <a:ext cx="2331720" cy="1371600"/>
          </a:xfrm>
          <a:prstGeom prst="roundRect">
            <a:avLst>
              <a:gd name="adj" fmla="val 6667"/>
            </a:avLst>
          </a:prstGeom>
          <a:solidFill>
            <a:srgbClr val="0B3D3F"/>
          </a:solidFill>
          <a:ln/>
        </p:spPr>
      </p:sp>
      <p:sp>
        <p:nvSpPr>
          <p:cNvPr id="9" name="Text 7"/>
          <p:cNvSpPr/>
          <p:nvPr/>
        </p:nvSpPr>
        <p:spPr>
          <a:xfrm>
            <a:off x="3246120" y="1984248"/>
            <a:ext cx="23317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30</a:t>
            </a:r>
            <a:endParaRPr lang="en-US" sz="3800" dirty="0"/>
          </a:p>
        </p:txBody>
      </p:sp>
      <p:sp>
        <p:nvSpPr>
          <p:cNvPr id="10" name="Text 8"/>
          <p:cNvSpPr/>
          <p:nvPr/>
        </p:nvSpPr>
        <p:spPr>
          <a:xfrm>
            <a:off x="3246120" y="2788920"/>
            <a:ext cx="2331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Numeric Features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806440" y="1874520"/>
            <a:ext cx="2331720" cy="1371600"/>
          </a:xfrm>
          <a:prstGeom prst="roundRect">
            <a:avLst>
              <a:gd name="adj" fmla="val 6667"/>
            </a:avLst>
          </a:prstGeom>
          <a:solidFill>
            <a:srgbClr val="0B3D3F"/>
          </a:solidFill>
          <a:ln/>
        </p:spPr>
      </p:sp>
      <p:sp>
        <p:nvSpPr>
          <p:cNvPr id="12" name="Text 10"/>
          <p:cNvSpPr/>
          <p:nvPr/>
        </p:nvSpPr>
        <p:spPr>
          <a:xfrm>
            <a:off x="5806440" y="1984248"/>
            <a:ext cx="23317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3800" dirty="0"/>
          </a:p>
        </p:txBody>
      </p:sp>
      <p:sp>
        <p:nvSpPr>
          <p:cNvPr id="13" name="Text 11"/>
          <p:cNvSpPr/>
          <p:nvPr/>
        </p:nvSpPr>
        <p:spPr>
          <a:xfrm>
            <a:off x="5806440" y="2788920"/>
            <a:ext cx="2331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Classes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85800" y="352044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73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Distribution</a:t>
            </a:r>
            <a:endParaRPr lang="en-US" sz="1400" dirty="0"/>
          </a:p>
        </p:txBody>
      </p:sp>
      <p:graphicFrame>
        <p:nvGraphicFramePr>
          <p:cNvPr id="15" name="Chart 0" descr=""/>
          <p:cNvGraphicFramePr/>
          <p:nvPr/>
        </p:nvGraphicFramePr>
        <p:xfrm>
          <a:off x="594360" y="3886200"/>
          <a:ext cx="3749040" cy="26060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6" name="Text 13"/>
          <p:cNvSpPr/>
          <p:nvPr/>
        </p:nvSpPr>
        <p:spPr>
          <a:xfrm>
            <a:off x="4892040" y="1874520"/>
            <a:ext cx="6583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73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Groups (10 measurements × 3 forms each)</a:t>
            </a:r>
            <a:endParaRPr lang="en-US" sz="1400" dirty="0"/>
          </a:p>
        </p:txBody>
      </p:sp>
      <p:sp>
        <p:nvSpPr>
          <p:cNvPr id="17" name="Shape 14"/>
          <p:cNvSpPr/>
          <p:nvPr/>
        </p:nvSpPr>
        <p:spPr>
          <a:xfrm>
            <a:off x="4892040" y="2377440"/>
            <a:ext cx="6583680" cy="868680"/>
          </a:xfrm>
          <a:prstGeom prst="roundRect">
            <a:avLst>
              <a:gd name="adj" fmla="val 8421"/>
            </a:avLst>
          </a:prstGeom>
          <a:solidFill>
            <a:srgbClr val="F2F8F7"/>
          </a:solidFill>
          <a:ln/>
        </p:spPr>
      </p:sp>
      <p:sp>
        <p:nvSpPr>
          <p:cNvPr id="18" name="Text 15"/>
          <p:cNvSpPr/>
          <p:nvPr/>
        </p:nvSpPr>
        <p:spPr>
          <a:xfrm>
            <a:off x="5074920" y="2450592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73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Radius, texture, perimeter, area</a:t>
            </a:r>
            <a:endParaRPr lang="en-US" sz="1250" dirty="0"/>
          </a:p>
        </p:txBody>
      </p:sp>
      <p:sp>
        <p:nvSpPr>
          <p:cNvPr id="19" name="Text 16"/>
          <p:cNvSpPr/>
          <p:nvPr/>
        </p:nvSpPr>
        <p:spPr>
          <a:xfrm>
            <a:off x="5074920" y="2852928"/>
            <a:ext cx="621792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 value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4892040" y="3410712"/>
            <a:ext cx="6583680" cy="868680"/>
          </a:xfrm>
          <a:prstGeom prst="roundRect">
            <a:avLst>
              <a:gd name="adj" fmla="val 8421"/>
            </a:avLst>
          </a:prstGeom>
          <a:solidFill>
            <a:srgbClr val="F2F8F7"/>
          </a:solidFill>
          <a:ln/>
        </p:spPr>
      </p:sp>
      <p:sp>
        <p:nvSpPr>
          <p:cNvPr id="21" name="Text 18"/>
          <p:cNvSpPr/>
          <p:nvPr/>
        </p:nvSpPr>
        <p:spPr>
          <a:xfrm>
            <a:off x="5074920" y="3483864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73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Smoothness, compactness, concavity</a:t>
            </a:r>
            <a:endParaRPr lang="en-US" sz="1250" dirty="0"/>
          </a:p>
        </p:txBody>
      </p:sp>
      <p:sp>
        <p:nvSpPr>
          <p:cNvPr id="22" name="Text 19"/>
          <p:cNvSpPr/>
          <p:nvPr/>
        </p:nvSpPr>
        <p:spPr>
          <a:xfrm>
            <a:off x="5074920" y="3886200"/>
            <a:ext cx="621792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 error</a:t>
            </a:r>
            <a:endParaRPr lang="en-US" sz="1100" dirty="0"/>
          </a:p>
        </p:txBody>
      </p:sp>
      <p:sp>
        <p:nvSpPr>
          <p:cNvPr id="23" name="Shape 20"/>
          <p:cNvSpPr/>
          <p:nvPr/>
        </p:nvSpPr>
        <p:spPr>
          <a:xfrm>
            <a:off x="4892040" y="4443984"/>
            <a:ext cx="6583680" cy="868680"/>
          </a:xfrm>
          <a:prstGeom prst="roundRect">
            <a:avLst>
              <a:gd name="adj" fmla="val 8421"/>
            </a:avLst>
          </a:prstGeom>
          <a:solidFill>
            <a:srgbClr val="F2F8F7"/>
          </a:solidFill>
          <a:ln/>
        </p:spPr>
      </p:sp>
      <p:sp>
        <p:nvSpPr>
          <p:cNvPr id="24" name="Text 21"/>
          <p:cNvSpPr/>
          <p:nvPr/>
        </p:nvSpPr>
        <p:spPr>
          <a:xfrm>
            <a:off x="5074920" y="4517136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73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Symmetry, fractal dimension, concave points</a:t>
            </a:r>
            <a:endParaRPr lang="en-US" sz="1250" dirty="0"/>
          </a:p>
        </p:txBody>
      </p:sp>
      <p:sp>
        <p:nvSpPr>
          <p:cNvPr id="25" name="Text 22"/>
          <p:cNvSpPr/>
          <p:nvPr/>
        </p:nvSpPr>
        <p:spPr>
          <a:xfrm>
            <a:off x="5074920" y="4919472"/>
            <a:ext cx="621792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Worst (largest) value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730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 Workflow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58368" y="1115568"/>
            <a:ext cx="457200" cy="54864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4" name="Shape 2"/>
          <p:cNvSpPr/>
          <p:nvPr/>
        </p:nvSpPr>
        <p:spPr>
          <a:xfrm>
            <a:off x="1211580" y="3406140"/>
            <a:ext cx="9738360" cy="0"/>
          </a:xfrm>
          <a:prstGeom prst="line">
            <a:avLst/>
          </a:prstGeom>
          <a:noFill/>
          <a:ln w="38100">
            <a:solidFill>
              <a:srgbClr val="CFE3E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85800" y="2880360"/>
            <a:ext cx="1051560" cy="105156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6" name="Text 4"/>
          <p:cNvSpPr/>
          <p:nvPr/>
        </p:nvSpPr>
        <p:spPr>
          <a:xfrm>
            <a:off x="685800" y="2880360"/>
            <a:ext cx="105156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365760" y="4069080"/>
            <a:ext cx="16916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173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115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173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Collection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2308860" y="2880360"/>
            <a:ext cx="1051560" cy="105156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9" name="Text 7"/>
          <p:cNvSpPr/>
          <p:nvPr/>
        </p:nvSpPr>
        <p:spPr>
          <a:xfrm>
            <a:off x="2308860" y="2880360"/>
            <a:ext cx="105156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1988820" y="4069080"/>
            <a:ext cx="16916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173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115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173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Cleaning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3931920" y="2880360"/>
            <a:ext cx="1051560" cy="105156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2" name="Text 10"/>
          <p:cNvSpPr/>
          <p:nvPr/>
        </p:nvSpPr>
        <p:spPr>
          <a:xfrm>
            <a:off x="3931920" y="2880360"/>
            <a:ext cx="105156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3611880" y="4069080"/>
            <a:ext cx="16916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173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Preprocessing</a:t>
            </a:r>
            <a:endParaRPr lang="en-US" sz="115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173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Scaling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5554980" y="2880360"/>
            <a:ext cx="1051560" cy="105156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5" name="Text 13"/>
          <p:cNvSpPr/>
          <p:nvPr/>
        </p:nvSpPr>
        <p:spPr>
          <a:xfrm>
            <a:off x="5554980" y="2880360"/>
            <a:ext cx="105156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5234940" y="4069080"/>
            <a:ext cx="16916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173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</a:t>
            </a:r>
            <a:endParaRPr lang="en-US" sz="115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173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7178040" y="2880360"/>
            <a:ext cx="1051560" cy="105156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8" name="Text 16"/>
          <p:cNvSpPr/>
          <p:nvPr/>
        </p:nvSpPr>
        <p:spPr>
          <a:xfrm>
            <a:off x="7178040" y="2880360"/>
            <a:ext cx="105156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6858000" y="4069080"/>
            <a:ext cx="16916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173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8801100" y="2880360"/>
            <a:ext cx="1051560" cy="105156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21" name="Text 19"/>
          <p:cNvSpPr/>
          <p:nvPr/>
        </p:nvSpPr>
        <p:spPr>
          <a:xfrm>
            <a:off x="8801100" y="2880360"/>
            <a:ext cx="105156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8481060" y="4069080"/>
            <a:ext cx="16916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173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10424160" y="2880360"/>
            <a:ext cx="1051560" cy="105156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24" name="Text 22"/>
          <p:cNvSpPr/>
          <p:nvPr/>
        </p:nvSpPr>
        <p:spPr>
          <a:xfrm>
            <a:off x="10424160" y="2880360"/>
            <a:ext cx="105156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2200" dirty="0"/>
          </a:p>
        </p:txBody>
      </p:sp>
      <p:sp>
        <p:nvSpPr>
          <p:cNvPr id="25" name="Text 23"/>
          <p:cNvSpPr/>
          <p:nvPr/>
        </p:nvSpPr>
        <p:spPr>
          <a:xfrm>
            <a:off x="10104120" y="4069080"/>
            <a:ext cx="16916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173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Predictive</a:t>
            </a:r>
            <a:endParaRPr lang="en-US" sz="115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173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685800" y="1554480"/>
            <a:ext cx="10789920" cy="1005840"/>
          </a:xfrm>
          <a:prstGeom prst="roundRect">
            <a:avLst>
              <a:gd name="adj" fmla="val 9091"/>
            </a:avLst>
          </a:prstGeom>
          <a:solidFill>
            <a:srgbClr val="F2F8F7"/>
          </a:solidFill>
          <a:ln/>
        </p:spPr>
      </p:sp>
      <p:sp>
        <p:nvSpPr>
          <p:cNvPr id="27" name="Text 25"/>
          <p:cNvSpPr/>
          <p:nvPr/>
        </p:nvSpPr>
        <p:spPr>
          <a:xfrm>
            <a:off x="914400" y="1554480"/>
            <a:ext cx="103327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173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project follows a standard supervised-learning pipeline — from raw diagnostic measurements to a working prediction tool — keeping every stage reproducible and testable.</a:t>
            </a:r>
            <a:endParaRPr lang="en-US" sz="13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730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Neural Network Architecture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58368" y="1115568"/>
            <a:ext cx="457200" cy="54864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4" name="Shape 2"/>
          <p:cNvSpPr/>
          <p:nvPr/>
        </p:nvSpPr>
        <p:spPr>
          <a:xfrm>
            <a:off x="777240" y="1828800"/>
            <a:ext cx="1828800" cy="3291840"/>
          </a:xfrm>
          <a:prstGeom prst="roundRect">
            <a:avLst>
              <a:gd name="adj" fmla="val 6000"/>
            </a:avLst>
          </a:prstGeom>
          <a:solidFill>
            <a:srgbClr val="0B3D3F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" y="214884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Layer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914400" y="3108960"/>
            <a:ext cx="155448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E9F6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features</a:t>
            </a:r>
            <a:endParaRPr lang="en-US" sz="125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E9F6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(flattened)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2660904" y="3310128"/>
            <a:ext cx="393192" cy="329184"/>
          </a:xfrm>
          <a:prstGeom prst="rightArrow">
            <a:avLst/>
          </a:prstGeom>
          <a:solidFill>
            <a:srgbClr val="5C7A7B"/>
          </a:solidFill>
          <a:ln/>
        </p:spPr>
      </p:sp>
      <p:sp>
        <p:nvSpPr>
          <p:cNvPr id="8" name="Shape 6"/>
          <p:cNvSpPr/>
          <p:nvPr/>
        </p:nvSpPr>
        <p:spPr>
          <a:xfrm>
            <a:off x="3108960" y="1828800"/>
            <a:ext cx="2377440" cy="3291840"/>
          </a:xfrm>
          <a:prstGeom prst="roundRect">
            <a:avLst>
              <a:gd name="adj" fmla="val 4615"/>
            </a:avLst>
          </a:prstGeom>
          <a:solidFill>
            <a:srgbClr val="028090"/>
          </a:solidFill>
          <a:ln/>
        </p:spPr>
      </p:sp>
      <p:sp>
        <p:nvSpPr>
          <p:cNvPr id="9" name="Text 7"/>
          <p:cNvSpPr/>
          <p:nvPr/>
        </p:nvSpPr>
        <p:spPr>
          <a:xfrm>
            <a:off x="3108960" y="214884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Hidden Layer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3246120" y="3108960"/>
            <a:ext cx="210312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E9F6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Dense · 20 units</a:t>
            </a:r>
            <a:endParaRPr lang="en-US" sz="125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E9F6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ReLU activation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5541264" y="3310128"/>
            <a:ext cx="393192" cy="329184"/>
          </a:xfrm>
          <a:prstGeom prst="rightArrow">
            <a:avLst/>
          </a:prstGeom>
          <a:solidFill>
            <a:srgbClr val="5C7A7B"/>
          </a:solidFill>
          <a:ln/>
        </p:spPr>
      </p:sp>
      <p:sp>
        <p:nvSpPr>
          <p:cNvPr id="12" name="Shape 10"/>
          <p:cNvSpPr/>
          <p:nvPr/>
        </p:nvSpPr>
        <p:spPr>
          <a:xfrm>
            <a:off x="5989320" y="1828800"/>
            <a:ext cx="2377440" cy="3291840"/>
          </a:xfrm>
          <a:prstGeom prst="roundRect">
            <a:avLst>
              <a:gd name="adj" fmla="val 4615"/>
            </a:avLst>
          </a:prstGeom>
          <a:solidFill>
            <a:srgbClr val="00A896"/>
          </a:solidFill>
          <a:ln/>
        </p:spPr>
      </p:sp>
      <p:sp>
        <p:nvSpPr>
          <p:cNvPr id="13" name="Text 11"/>
          <p:cNvSpPr/>
          <p:nvPr/>
        </p:nvSpPr>
        <p:spPr>
          <a:xfrm>
            <a:off x="5989320" y="214884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Layer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6126480" y="3108960"/>
            <a:ext cx="210312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E9F6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Dense · 2 units</a:t>
            </a:r>
            <a:endParaRPr lang="en-US" sz="125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E9F6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Sigmoid activation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7818120" y="1828800"/>
            <a:ext cx="3703320" cy="3291840"/>
          </a:xfrm>
          <a:prstGeom prst="roundRect">
            <a:avLst>
              <a:gd name="adj" fmla="val 3333"/>
            </a:avLst>
          </a:prstGeom>
          <a:solidFill>
            <a:srgbClr val="F2F8F7"/>
          </a:solidFill>
          <a:ln/>
        </p:spPr>
      </p:sp>
      <p:sp>
        <p:nvSpPr>
          <p:cNvPr id="16" name="Text 14"/>
          <p:cNvSpPr/>
          <p:nvPr/>
        </p:nvSpPr>
        <p:spPr>
          <a:xfrm>
            <a:off x="8046720" y="201168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73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Compilation Settings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8046720" y="2514600"/>
            <a:ext cx="155448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C7A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Optimizer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9601200" y="2514600"/>
            <a:ext cx="178308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Adam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8046720" y="3118104"/>
            <a:ext cx="155448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C7A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Loss Function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9601200" y="3118104"/>
            <a:ext cx="178308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Sparse Categorical</a:t>
            </a:r>
            <a:endParaRPr lang="en-US" sz="1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Crossentropy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8046720" y="3721608"/>
            <a:ext cx="155448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C7A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9601200" y="3721608"/>
            <a:ext cx="178308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8046720" y="4325112"/>
            <a:ext cx="155448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C7A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Epochs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9601200" y="4325112"/>
            <a:ext cx="178308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777240" y="539496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C7A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Framework: TensorFlow / Keras Sequential API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730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 Training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58368" y="1115568"/>
            <a:ext cx="457200" cy="54864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4" name="Text 2"/>
          <p:cNvSpPr/>
          <p:nvPr/>
        </p:nvSpPr>
        <p:spPr>
          <a:xfrm>
            <a:off x="685800" y="1417320"/>
            <a:ext cx="10607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5C7A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model was trained on standardized training data, holding out 10% for validation during training to monitor generalization.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685800" y="2194560"/>
            <a:ext cx="3383280" cy="1828800"/>
          </a:xfrm>
          <a:prstGeom prst="roundRect">
            <a:avLst>
              <a:gd name="adj" fmla="val 6000"/>
            </a:avLst>
          </a:prstGeom>
          <a:solidFill>
            <a:srgbClr val="F2F8F7"/>
          </a:solidFill>
          <a:ln/>
        </p:spPr>
      </p:sp>
      <p:sp>
        <p:nvSpPr>
          <p:cNvPr id="6" name="Shape 4"/>
          <p:cNvSpPr/>
          <p:nvPr/>
        </p:nvSpPr>
        <p:spPr>
          <a:xfrm>
            <a:off x="960120" y="2487168"/>
            <a:ext cx="640080" cy="64008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7" name="Image 0" descr="icons/clipboar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13739" y="2640787"/>
            <a:ext cx="332842" cy="33284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783080" y="2395728"/>
            <a:ext cx="2103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30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914400" y="3246120"/>
            <a:ext cx="292608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C7A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Epochs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4343400" y="2194560"/>
            <a:ext cx="3383280" cy="1828800"/>
          </a:xfrm>
          <a:prstGeom prst="roundRect">
            <a:avLst>
              <a:gd name="adj" fmla="val 6000"/>
            </a:avLst>
          </a:prstGeom>
          <a:solidFill>
            <a:srgbClr val="F2F8F7"/>
          </a:solidFill>
          <a:ln/>
        </p:spPr>
      </p:sp>
      <p:sp>
        <p:nvSpPr>
          <p:cNvPr id="11" name="Shape 8"/>
          <p:cNvSpPr/>
          <p:nvPr/>
        </p:nvSpPr>
        <p:spPr>
          <a:xfrm>
            <a:off x="4617720" y="2487168"/>
            <a:ext cx="640080" cy="64008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12" name="Image 1" descr="icons/layer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71339" y="2640787"/>
            <a:ext cx="332842" cy="332842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440680" y="2395728"/>
            <a:ext cx="2103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30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90 / 10</a:t>
            </a:r>
            <a:endParaRPr lang="en-US" sz="2200" dirty="0"/>
          </a:p>
        </p:txBody>
      </p:sp>
      <p:sp>
        <p:nvSpPr>
          <p:cNvPr id="14" name="Text 10"/>
          <p:cNvSpPr/>
          <p:nvPr/>
        </p:nvSpPr>
        <p:spPr>
          <a:xfrm>
            <a:off x="4572000" y="3246120"/>
            <a:ext cx="292608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C7A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/ Validation Split</a:t>
            </a:r>
            <a:endParaRPr lang="en-US" sz="1200" dirty="0"/>
          </a:p>
        </p:txBody>
      </p:sp>
      <p:sp>
        <p:nvSpPr>
          <p:cNvPr id="15" name="Shape 11"/>
          <p:cNvSpPr/>
          <p:nvPr/>
        </p:nvSpPr>
        <p:spPr>
          <a:xfrm>
            <a:off x="8001000" y="2194560"/>
            <a:ext cx="3383280" cy="1828800"/>
          </a:xfrm>
          <a:prstGeom prst="roundRect">
            <a:avLst>
              <a:gd name="adj" fmla="val 6000"/>
            </a:avLst>
          </a:prstGeom>
          <a:solidFill>
            <a:srgbClr val="F2F8F7"/>
          </a:solidFill>
          <a:ln/>
        </p:spPr>
      </p:sp>
      <p:sp>
        <p:nvSpPr>
          <p:cNvPr id="16" name="Shape 12"/>
          <p:cNvSpPr/>
          <p:nvPr/>
        </p:nvSpPr>
        <p:spPr>
          <a:xfrm>
            <a:off x="8275320" y="2487168"/>
            <a:ext cx="640080" cy="640080"/>
          </a:xfrm>
          <a:prstGeom prst="ellipse">
            <a:avLst/>
          </a:prstGeom>
          <a:solidFill>
            <a:srgbClr val="02C39A"/>
          </a:solidFill>
          <a:ln/>
        </p:spPr>
      </p:sp>
      <p:pic>
        <p:nvPicPr>
          <p:cNvPr id="17" name="Image 2" descr="icons/chec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28939" y="2640787"/>
            <a:ext cx="332842" cy="332842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9098280" y="2395728"/>
            <a:ext cx="2103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30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✓</a:t>
            </a:r>
            <a:endParaRPr lang="en-US" sz="2200" dirty="0"/>
          </a:p>
        </p:txBody>
      </p:sp>
      <p:sp>
        <p:nvSpPr>
          <p:cNvPr id="19" name="Text 14"/>
          <p:cNvSpPr/>
          <p:nvPr/>
        </p:nvSpPr>
        <p:spPr>
          <a:xfrm>
            <a:off x="8229600" y="3246120"/>
            <a:ext cx="292608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C7A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Standardized Inputs (StandardScaler)</a:t>
            </a:r>
            <a:endParaRPr lang="en-US" sz="1200" dirty="0"/>
          </a:p>
        </p:txBody>
      </p:sp>
      <p:sp>
        <p:nvSpPr>
          <p:cNvPr id="20" name="Shape 15"/>
          <p:cNvSpPr/>
          <p:nvPr/>
        </p:nvSpPr>
        <p:spPr>
          <a:xfrm>
            <a:off x="685800" y="4434840"/>
            <a:ext cx="10835640" cy="1691640"/>
          </a:xfrm>
          <a:prstGeom prst="roundRect">
            <a:avLst>
              <a:gd name="adj" fmla="val 6486"/>
            </a:avLst>
          </a:prstGeom>
          <a:solidFill>
            <a:srgbClr val="0B3D3F"/>
          </a:solidFill>
          <a:ln/>
        </p:spPr>
      </p:sp>
      <p:sp>
        <p:nvSpPr>
          <p:cNvPr id="21" name="Text 16"/>
          <p:cNvSpPr/>
          <p:nvPr/>
        </p:nvSpPr>
        <p:spPr>
          <a:xfrm>
            <a:off x="1005840" y="4434840"/>
            <a:ext cx="3017520" cy="1691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96.5%</a:t>
            </a:r>
            <a:endParaRPr lang="en-US" sz="4600" dirty="0"/>
          </a:p>
        </p:txBody>
      </p:sp>
      <p:sp>
        <p:nvSpPr>
          <p:cNvPr id="22" name="Text 17"/>
          <p:cNvSpPr/>
          <p:nvPr/>
        </p:nvSpPr>
        <p:spPr>
          <a:xfrm>
            <a:off x="3977640" y="4709160"/>
            <a:ext cx="3566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Accuracy</a:t>
            </a:r>
            <a:endParaRPr lang="en-US" sz="1500" dirty="0"/>
          </a:p>
        </p:txBody>
      </p:sp>
      <p:sp>
        <p:nvSpPr>
          <p:cNvPr id="23" name="Text 18"/>
          <p:cNvSpPr/>
          <p:nvPr/>
        </p:nvSpPr>
        <p:spPr>
          <a:xfrm>
            <a:off x="3977640" y="5120640"/>
            <a:ext cx="411480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BFE0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Achieved on unseen test data after just 10 training epochs</a:t>
            </a:r>
            <a:endParaRPr lang="en-US" sz="1150" dirty="0"/>
          </a:p>
        </p:txBody>
      </p:sp>
      <p:sp>
        <p:nvSpPr>
          <p:cNvPr id="24" name="Shape 19"/>
          <p:cNvSpPr/>
          <p:nvPr/>
        </p:nvSpPr>
        <p:spPr>
          <a:xfrm>
            <a:off x="8183880" y="4617720"/>
            <a:ext cx="0" cy="1325880"/>
          </a:xfrm>
          <a:prstGeom prst="line">
            <a:avLst/>
          </a:prstGeom>
          <a:noFill/>
          <a:ln w="12700">
            <a:solidFill>
              <a:srgbClr val="2C6664"/>
            </a:solidFill>
            <a:prstDash val="solid"/>
          </a:ln>
        </p:spPr>
      </p:sp>
      <p:sp>
        <p:nvSpPr>
          <p:cNvPr id="25" name="Text 20"/>
          <p:cNvSpPr/>
          <p:nvPr/>
        </p:nvSpPr>
        <p:spPr>
          <a:xfrm>
            <a:off x="8412480" y="4434840"/>
            <a:ext cx="26517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0.113</a:t>
            </a:r>
            <a:endParaRPr lang="en-US" sz="3000" dirty="0"/>
          </a:p>
        </p:txBody>
      </p:sp>
      <p:sp>
        <p:nvSpPr>
          <p:cNvPr id="26" name="Text 21"/>
          <p:cNvSpPr/>
          <p:nvPr/>
        </p:nvSpPr>
        <p:spPr>
          <a:xfrm>
            <a:off x="8412480" y="525780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BFE0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Loss</a:t>
            </a:r>
            <a:endParaRPr lang="en-US" sz="12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730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 Evaluation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58368" y="1115568"/>
            <a:ext cx="457200" cy="54864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4" name="Text 2"/>
          <p:cNvSpPr/>
          <p:nvPr/>
        </p:nvSpPr>
        <p:spPr>
          <a:xfrm>
            <a:off x="685800" y="137160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5C7A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Evaluated on 114 held-out test samples (20% of the dataset), unseen during training.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685800" y="1965960"/>
            <a:ext cx="5212080" cy="4114800"/>
          </a:xfrm>
          <a:prstGeom prst="roundRect">
            <a:avLst>
              <a:gd name="adj" fmla="val 2667"/>
            </a:avLst>
          </a:prstGeom>
          <a:solidFill>
            <a:srgbClr val="F2F8F7"/>
          </a:solidFill>
          <a:ln/>
        </p:spPr>
      </p:sp>
      <p:sp>
        <p:nvSpPr>
          <p:cNvPr id="6" name="Shape 4"/>
          <p:cNvSpPr/>
          <p:nvPr/>
        </p:nvSpPr>
        <p:spPr>
          <a:xfrm>
            <a:off x="960120" y="2240280"/>
            <a:ext cx="731520" cy="73152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7" name="Image 0" descr="icons/search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5685" y="2415845"/>
            <a:ext cx="380390" cy="38039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874520" y="2331720"/>
            <a:ext cx="3840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73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Probability to Diagnosis</a:t>
            </a:r>
            <a:endParaRPr lang="en-US" sz="1450" dirty="0"/>
          </a:p>
        </p:txBody>
      </p:sp>
      <p:sp>
        <p:nvSpPr>
          <p:cNvPr id="9" name="Shape 6"/>
          <p:cNvSpPr/>
          <p:nvPr/>
        </p:nvSpPr>
        <p:spPr>
          <a:xfrm>
            <a:off x="914400" y="3246120"/>
            <a:ext cx="365760" cy="36576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0" name="Text 7"/>
          <p:cNvSpPr/>
          <p:nvPr/>
        </p:nvSpPr>
        <p:spPr>
          <a:xfrm>
            <a:off x="914400" y="324612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1417320" y="3191256"/>
            <a:ext cx="429768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73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outputs a probability for each class (Malignant, Benign)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914400" y="3995928"/>
            <a:ext cx="365760" cy="36576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3" name="Text 10"/>
          <p:cNvSpPr/>
          <p:nvPr/>
        </p:nvSpPr>
        <p:spPr>
          <a:xfrm>
            <a:off x="914400" y="399592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1417320" y="3941064"/>
            <a:ext cx="429768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73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np.argmax() selects the class with the higher probability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914400" y="4745736"/>
            <a:ext cx="365760" cy="36576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6" name="Text 13"/>
          <p:cNvSpPr/>
          <p:nvPr/>
        </p:nvSpPr>
        <p:spPr>
          <a:xfrm>
            <a:off x="914400" y="4745736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1417320" y="4690872"/>
            <a:ext cx="429768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73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predicted label is compared against the true diagnosis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914400" y="5495544"/>
            <a:ext cx="365760" cy="36576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9" name="Text 16"/>
          <p:cNvSpPr/>
          <p:nvPr/>
        </p:nvSpPr>
        <p:spPr>
          <a:xfrm>
            <a:off x="914400" y="5495544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1417320" y="5440680"/>
            <a:ext cx="429768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73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Overall performance is summarized as test accuracy &amp; loss</a:t>
            </a:r>
            <a:endParaRPr lang="en-US" sz="1200" dirty="0"/>
          </a:p>
        </p:txBody>
      </p:sp>
      <p:sp>
        <p:nvSpPr>
          <p:cNvPr id="21" name="Shape 18"/>
          <p:cNvSpPr/>
          <p:nvPr/>
        </p:nvSpPr>
        <p:spPr>
          <a:xfrm>
            <a:off x="6172200" y="1965960"/>
            <a:ext cx="5349240" cy="4114800"/>
          </a:xfrm>
          <a:prstGeom prst="roundRect">
            <a:avLst>
              <a:gd name="adj" fmla="val 2667"/>
            </a:avLst>
          </a:prstGeom>
          <a:solidFill>
            <a:srgbClr val="0B3D3F"/>
          </a:solidFill>
          <a:ln/>
        </p:spPr>
      </p:sp>
      <p:sp>
        <p:nvSpPr>
          <p:cNvPr id="22" name="Text 19"/>
          <p:cNvSpPr/>
          <p:nvPr/>
        </p:nvSpPr>
        <p:spPr>
          <a:xfrm>
            <a:off x="6446520" y="2194560"/>
            <a:ext cx="4754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Set Performance</a:t>
            </a:r>
            <a:endParaRPr lang="en-US" sz="1450" dirty="0"/>
          </a:p>
        </p:txBody>
      </p:sp>
      <p:sp>
        <p:nvSpPr>
          <p:cNvPr id="23" name="Text 20"/>
          <p:cNvSpPr/>
          <p:nvPr/>
        </p:nvSpPr>
        <p:spPr>
          <a:xfrm>
            <a:off x="6446520" y="283464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BFE0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Accuracy</a:t>
            </a:r>
            <a:endParaRPr lang="en-US" sz="1250" dirty="0"/>
          </a:p>
        </p:txBody>
      </p:sp>
      <p:sp>
        <p:nvSpPr>
          <p:cNvPr id="24" name="Text 21"/>
          <p:cNvSpPr/>
          <p:nvPr/>
        </p:nvSpPr>
        <p:spPr>
          <a:xfrm>
            <a:off x="9692640" y="2834640"/>
            <a:ext cx="1691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7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96.49%</a:t>
            </a:r>
            <a:endParaRPr lang="en-US" sz="1700" dirty="0"/>
          </a:p>
        </p:txBody>
      </p:sp>
      <p:sp>
        <p:nvSpPr>
          <p:cNvPr id="25" name="Shape 22"/>
          <p:cNvSpPr/>
          <p:nvPr/>
        </p:nvSpPr>
        <p:spPr>
          <a:xfrm>
            <a:off x="6446520" y="3337560"/>
            <a:ext cx="4937760" cy="0"/>
          </a:xfrm>
          <a:prstGeom prst="line">
            <a:avLst/>
          </a:prstGeom>
          <a:noFill/>
          <a:ln w="9525">
            <a:solidFill>
              <a:srgbClr val="1E5A58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6446520" y="352044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BFE0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Loss</a:t>
            </a:r>
            <a:endParaRPr lang="en-US" sz="1250" dirty="0"/>
          </a:p>
        </p:txBody>
      </p:sp>
      <p:sp>
        <p:nvSpPr>
          <p:cNvPr id="27" name="Text 24"/>
          <p:cNvSpPr/>
          <p:nvPr/>
        </p:nvSpPr>
        <p:spPr>
          <a:xfrm>
            <a:off x="9692640" y="3520440"/>
            <a:ext cx="1691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7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0.1128</a:t>
            </a:r>
            <a:endParaRPr lang="en-US" sz="1700" dirty="0"/>
          </a:p>
        </p:txBody>
      </p:sp>
      <p:sp>
        <p:nvSpPr>
          <p:cNvPr id="28" name="Shape 25"/>
          <p:cNvSpPr/>
          <p:nvPr/>
        </p:nvSpPr>
        <p:spPr>
          <a:xfrm>
            <a:off x="6446520" y="4023360"/>
            <a:ext cx="4937760" cy="0"/>
          </a:xfrm>
          <a:prstGeom prst="line">
            <a:avLst/>
          </a:prstGeom>
          <a:noFill/>
          <a:ln w="9525">
            <a:solidFill>
              <a:srgbClr val="1E5A58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6446520" y="420624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BFE0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 Accuracy (final epoch)</a:t>
            </a:r>
            <a:endParaRPr lang="en-US" sz="1250" dirty="0"/>
          </a:p>
        </p:txBody>
      </p:sp>
      <p:sp>
        <p:nvSpPr>
          <p:cNvPr id="30" name="Text 27"/>
          <p:cNvSpPr/>
          <p:nvPr/>
        </p:nvSpPr>
        <p:spPr>
          <a:xfrm>
            <a:off x="9692640" y="4206240"/>
            <a:ext cx="1691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7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97.35%</a:t>
            </a:r>
            <a:endParaRPr lang="en-US" sz="1700" dirty="0"/>
          </a:p>
        </p:txBody>
      </p:sp>
      <p:sp>
        <p:nvSpPr>
          <p:cNvPr id="31" name="Shape 28"/>
          <p:cNvSpPr/>
          <p:nvPr/>
        </p:nvSpPr>
        <p:spPr>
          <a:xfrm>
            <a:off x="6446520" y="4709160"/>
            <a:ext cx="4937760" cy="0"/>
          </a:xfrm>
          <a:prstGeom prst="line">
            <a:avLst/>
          </a:prstGeom>
          <a:noFill/>
          <a:ln w="9525">
            <a:solidFill>
              <a:srgbClr val="1E5A58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6446520" y="5074920"/>
            <a:ext cx="48920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i="1" dirty="0">
                <a:solidFill>
                  <a:srgbClr val="BFE0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 accuracy after only 10 epochs suggests the standardized features are highly separable — leaving room for further tuning (see Conclusion).</a:t>
            </a:r>
            <a:endParaRPr lang="en-US" sz="11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9601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730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Building the Predictive System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58368" y="1115568"/>
            <a:ext cx="457200" cy="54864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4" name="Text 2"/>
          <p:cNvSpPr/>
          <p:nvPr/>
        </p:nvSpPr>
        <p:spPr>
          <a:xfrm>
            <a:off x="685800" y="137160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5C7A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reusable function takes a new patient’s 30 measurements and returns a diagnosis prediction.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685800" y="2057400"/>
            <a:ext cx="1874520" cy="1051560"/>
          </a:xfrm>
          <a:prstGeom prst="roundRect">
            <a:avLst>
              <a:gd name="adj" fmla="val 8696"/>
            </a:avLst>
          </a:prstGeom>
          <a:solidFill>
            <a:srgbClr val="028090"/>
          </a:solidFill>
          <a:ln/>
        </p:spPr>
      </p:sp>
      <p:sp>
        <p:nvSpPr>
          <p:cNvPr id="6" name="Text 4"/>
          <p:cNvSpPr/>
          <p:nvPr/>
        </p:nvSpPr>
        <p:spPr>
          <a:xfrm>
            <a:off x="758952" y="2057400"/>
            <a:ext cx="1728216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input</a:t>
            </a:r>
            <a:endParaRPr lang="en-US" sz="115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(30 values)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2578608" y="2455164"/>
            <a:ext cx="283464" cy="256032"/>
          </a:xfrm>
          <a:prstGeom prst="rightArrow">
            <a:avLst/>
          </a:prstGeom>
          <a:solidFill>
            <a:srgbClr val="5C7A7B"/>
          </a:solidFill>
          <a:ln/>
        </p:spPr>
      </p:sp>
      <p:sp>
        <p:nvSpPr>
          <p:cNvPr id="8" name="Shape 6"/>
          <p:cNvSpPr/>
          <p:nvPr/>
        </p:nvSpPr>
        <p:spPr>
          <a:xfrm>
            <a:off x="2880360" y="2057400"/>
            <a:ext cx="1874520" cy="1051560"/>
          </a:xfrm>
          <a:prstGeom prst="roundRect">
            <a:avLst>
              <a:gd name="adj" fmla="val 8696"/>
            </a:avLst>
          </a:prstGeom>
          <a:solidFill>
            <a:srgbClr val="028090"/>
          </a:solidFill>
          <a:ln/>
        </p:spPr>
      </p:sp>
      <p:sp>
        <p:nvSpPr>
          <p:cNvPr id="9" name="Text 7"/>
          <p:cNvSpPr/>
          <p:nvPr/>
        </p:nvSpPr>
        <p:spPr>
          <a:xfrm>
            <a:off x="2953512" y="2057400"/>
            <a:ext cx="1728216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Reshape to</a:t>
            </a:r>
            <a:endParaRPr lang="en-US" sz="115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(1, 30)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773168" y="2455164"/>
            <a:ext cx="283464" cy="256032"/>
          </a:xfrm>
          <a:prstGeom prst="rightArrow">
            <a:avLst/>
          </a:prstGeom>
          <a:solidFill>
            <a:srgbClr val="5C7A7B"/>
          </a:solidFill>
          <a:ln/>
        </p:spPr>
      </p:sp>
      <p:sp>
        <p:nvSpPr>
          <p:cNvPr id="11" name="Shape 9"/>
          <p:cNvSpPr/>
          <p:nvPr/>
        </p:nvSpPr>
        <p:spPr>
          <a:xfrm>
            <a:off x="5074920" y="2057400"/>
            <a:ext cx="1874520" cy="1051560"/>
          </a:xfrm>
          <a:prstGeom prst="roundRect">
            <a:avLst>
              <a:gd name="adj" fmla="val 8696"/>
            </a:avLst>
          </a:prstGeom>
          <a:solidFill>
            <a:srgbClr val="028090"/>
          </a:solidFill>
          <a:ln/>
        </p:spPr>
      </p:sp>
      <p:sp>
        <p:nvSpPr>
          <p:cNvPr id="12" name="Text 10"/>
          <p:cNvSpPr/>
          <p:nvPr/>
        </p:nvSpPr>
        <p:spPr>
          <a:xfrm>
            <a:off x="5148072" y="2057400"/>
            <a:ext cx="1728216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 with</a:t>
            </a:r>
            <a:endParaRPr lang="en-US" sz="115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StandardScaler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967728" y="2455164"/>
            <a:ext cx="283464" cy="256032"/>
          </a:xfrm>
          <a:prstGeom prst="rightArrow">
            <a:avLst/>
          </a:prstGeom>
          <a:solidFill>
            <a:srgbClr val="5C7A7B"/>
          </a:solidFill>
          <a:ln/>
        </p:spPr>
      </p:sp>
      <p:sp>
        <p:nvSpPr>
          <p:cNvPr id="14" name="Shape 12"/>
          <p:cNvSpPr/>
          <p:nvPr/>
        </p:nvSpPr>
        <p:spPr>
          <a:xfrm>
            <a:off x="7269480" y="2057400"/>
            <a:ext cx="1874520" cy="1051560"/>
          </a:xfrm>
          <a:prstGeom prst="roundRect">
            <a:avLst>
              <a:gd name="adj" fmla="val 8696"/>
            </a:avLst>
          </a:prstGeom>
          <a:solidFill>
            <a:srgbClr val="028090"/>
          </a:solidFill>
          <a:ln/>
        </p:spPr>
      </p:sp>
      <p:sp>
        <p:nvSpPr>
          <p:cNvPr id="15" name="Text 13"/>
          <p:cNvSpPr/>
          <p:nvPr/>
        </p:nvSpPr>
        <p:spPr>
          <a:xfrm>
            <a:off x="7342632" y="2057400"/>
            <a:ext cx="1728216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model.predict()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9162288" y="2455164"/>
            <a:ext cx="283464" cy="256032"/>
          </a:xfrm>
          <a:prstGeom prst="rightArrow">
            <a:avLst/>
          </a:prstGeom>
          <a:solidFill>
            <a:srgbClr val="5C7A7B"/>
          </a:solidFill>
          <a:ln/>
        </p:spPr>
      </p:sp>
      <p:sp>
        <p:nvSpPr>
          <p:cNvPr id="17" name="Shape 15"/>
          <p:cNvSpPr/>
          <p:nvPr/>
        </p:nvSpPr>
        <p:spPr>
          <a:xfrm>
            <a:off x="9464040" y="2057400"/>
            <a:ext cx="1874520" cy="1051560"/>
          </a:xfrm>
          <a:prstGeom prst="roundRect">
            <a:avLst>
              <a:gd name="adj" fmla="val 8696"/>
            </a:avLst>
          </a:prstGeom>
          <a:solidFill>
            <a:srgbClr val="02C39A"/>
          </a:solidFill>
          <a:ln/>
        </p:spPr>
      </p:sp>
      <p:sp>
        <p:nvSpPr>
          <p:cNvPr id="18" name="Text 16"/>
          <p:cNvSpPr/>
          <p:nvPr/>
        </p:nvSpPr>
        <p:spPr>
          <a:xfrm>
            <a:off x="9537192" y="2057400"/>
            <a:ext cx="1728216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argmax →</a:t>
            </a:r>
            <a:endParaRPr lang="en-US" sz="115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label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85800" y="3520440"/>
            <a:ext cx="10835640" cy="2606040"/>
          </a:xfrm>
          <a:prstGeom prst="roundRect">
            <a:avLst>
              <a:gd name="adj" fmla="val 4211"/>
            </a:avLst>
          </a:prstGeom>
          <a:solidFill>
            <a:srgbClr val="F2F8F7"/>
          </a:solidFill>
          <a:ln/>
        </p:spPr>
      </p:sp>
      <p:sp>
        <p:nvSpPr>
          <p:cNvPr id="20" name="Shape 18"/>
          <p:cNvSpPr/>
          <p:nvPr/>
        </p:nvSpPr>
        <p:spPr>
          <a:xfrm>
            <a:off x="1005840" y="3794760"/>
            <a:ext cx="777240" cy="77724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21" name="Image 0" descr="icons/flas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92378" y="3981298"/>
            <a:ext cx="404165" cy="404165"/>
          </a:xfrm>
          <a:prstGeom prst="rect">
            <a:avLst/>
          </a:prstGeom>
        </p:spPr>
      </p:pic>
      <p:sp>
        <p:nvSpPr>
          <p:cNvPr id="22" name="Text 19"/>
          <p:cNvSpPr/>
          <p:nvPr/>
        </p:nvSpPr>
        <p:spPr>
          <a:xfrm>
            <a:off x="1965960" y="3886200"/>
            <a:ext cx="4572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3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 Prediction Demo</a:t>
            </a:r>
            <a:endParaRPr lang="en-US" sz="1500" dirty="0"/>
          </a:p>
        </p:txBody>
      </p:sp>
      <p:sp>
        <p:nvSpPr>
          <p:cNvPr id="23" name="Text 20"/>
          <p:cNvSpPr/>
          <p:nvPr/>
        </p:nvSpPr>
        <p:spPr>
          <a:xfrm>
            <a:off x="1005840" y="4709160"/>
            <a:ext cx="51206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5C7A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Input: 30 real-valued cell-nuclei measurements from a test-set patient record</a:t>
            </a:r>
            <a:endParaRPr lang="en-US" sz="1200" dirty="0"/>
          </a:p>
        </p:txBody>
      </p:sp>
      <p:sp>
        <p:nvSpPr>
          <p:cNvPr id="24" name="Text 21"/>
          <p:cNvSpPr/>
          <p:nvPr/>
        </p:nvSpPr>
        <p:spPr>
          <a:xfrm>
            <a:off x="1005840" y="5440680"/>
            <a:ext cx="5943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280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Model output probabilities:  [0.078  (Malignant),  0.901  (Benign)]</a:t>
            </a:r>
            <a:endParaRPr lang="en-US" sz="1150" dirty="0"/>
          </a:p>
        </p:txBody>
      </p:sp>
      <p:sp>
        <p:nvSpPr>
          <p:cNvPr id="25" name="Shape 22"/>
          <p:cNvSpPr/>
          <p:nvPr/>
        </p:nvSpPr>
        <p:spPr>
          <a:xfrm>
            <a:off x="7178040" y="3794760"/>
            <a:ext cx="0" cy="2103120"/>
          </a:xfrm>
          <a:prstGeom prst="line">
            <a:avLst/>
          </a:prstGeom>
          <a:noFill/>
          <a:ln w="12700">
            <a:solidFill>
              <a:srgbClr val="D8E9E7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7452360" y="388620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C7A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Predicted Result</a:t>
            </a:r>
            <a:endParaRPr lang="en-US" sz="1200" dirty="0"/>
          </a:p>
        </p:txBody>
      </p:sp>
      <p:sp>
        <p:nvSpPr>
          <p:cNvPr id="27" name="Text 24"/>
          <p:cNvSpPr/>
          <p:nvPr/>
        </p:nvSpPr>
        <p:spPr>
          <a:xfrm>
            <a:off x="7452360" y="4206240"/>
            <a:ext cx="35661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0A89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BENIGN</a:t>
            </a:r>
            <a:endParaRPr lang="en-US" sz="3400" dirty="0"/>
          </a:p>
        </p:txBody>
      </p:sp>
      <p:sp>
        <p:nvSpPr>
          <p:cNvPr id="28" name="Text 25"/>
          <p:cNvSpPr/>
          <p:nvPr/>
        </p:nvSpPr>
        <p:spPr>
          <a:xfrm>
            <a:off x="7452360" y="502920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73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Confidence: 90.06%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3D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966960" y="4572000"/>
            <a:ext cx="3657600" cy="3657600"/>
          </a:xfrm>
          <a:prstGeom prst="ellipse">
            <a:avLst/>
          </a:prstGeom>
          <a:solidFill>
            <a:srgbClr val="028090">
              <a:alpha val="40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0292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 &amp; Future Scope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58368" y="1170432"/>
            <a:ext cx="457200" cy="54864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5" name="Shape 3"/>
          <p:cNvSpPr/>
          <p:nvPr/>
        </p:nvSpPr>
        <p:spPr>
          <a:xfrm>
            <a:off x="640080" y="1600200"/>
            <a:ext cx="5303520" cy="4480560"/>
          </a:xfrm>
          <a:prstGeom prst="roundRect">
            <a:avLst>
              <a:gd name="adj" fmla="val 2449"/>
            </a:avLst>
          </a:prstGeom>
          <a:solidFill>
            <a:srgbClr val="12484A"/>
          </a:solidFill>
          <a:ln/>
        </p:spPr>
      </p:sp>
      <p:sp>
        <p:nvSpPr>
          <p:cNvPr id="6" name="Shape 4"/>
          <p:cNvSpPr/>
          <p:nvPr/>
        </p:nvSpPr>
        <p:spPr>
          <a:xfrm>
            <a:off x="914400" y="1874520"/>
            <a:ext cx="685800" cy="685800"/>
          </a:xfrm>
          <a:prstGeom prst="ellipse">
            <a:avLst/>
          </a:prstGeom>
          <a:solidFill>
            <a:srgbClr val="02C39A"/>
          </a:solidFill>
          <a:ln/>
        </p:spPr>
      </p:sp>
      <p:pic>
        <p:nvPicPr>
          <p:cNvPr id="7" name="Image 0" descr="icons/chec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8992" y="2039112"/>
            <a:ext cx="356616" cy="35661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783080" y="1965960"/>
            <a:ext cx="3931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Takeaways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914400" y="2889504"/>
            <a:ext cx="128016" cy="128016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0" name="Text 7"/>
          <p:cNvSpPr/>
          <p:nvPr/>
        </p:nvSpPr>
        <p:spPr>
          <a:xfrm>
            <a:off x="1188720" y="2724912"/>
            <a:ext cx="457200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DCEF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simple Keras neural network reached 96.5% test accuracy on tumor classification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914400" y="3941064"/>
            <a:ext cx="128016" cy="128016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2" name="Text 9"/>
          <p:cNvSpPr/>
          <p:nvPr/>
        </p:nvSpPr>
        <p:spPr>
          <a:xfrm>
            <a:off x="1188720" y="3776472"/>
            <a:ext cx="457200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DCEF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Standardizing the 30 input features was key to stable, fast training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914400" y="4992624"/>
            <a:ext cx="128016" cy="128016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4" name="Text 11"/>
          <p:cNvSpPr/>
          <p:nvPr/>
        </p:nvSpPr>
        <p:spPr>
          <a:xfrm>
            <a:off x="1188720" y="4828032"/>
            <a:ext cx="457200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DCEF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trained model was wrapped into a working single-patient prediction function</a:t>
            </a:r>
            <a:endParaRPr lang="en-US" sz="1300" dirty="0"/>
          </a:p>
        </p:txBody>
      </p:sp>
      <p:sp>
        <p:nvSpPr>
          <p:cNvPr id="15" name="Shape 12"/>
          <p:cNvSpPr/>
          <p:nvPr/>
        </p:nvSpPr>
        <p:spPr>
          <a:xfrm>
            <a:off x="6217920" y="1600200"/>
            <a:ext cx="5349240" cy="4480560"/>
          </a:xfrm>
          <a:prstGeom prst="roundRect">
            <a:avLst>
              <a:gd name="adj" fmla="val 2449"/>
            </a:avLst>
          </a:prstGeom>
          <a:solidFill>
            <a:srgbClr val="12484A"/>
          </a:solidFill>
          <a:ln/>
        </p:spPr>
      </p:sp>
      <p:sp>
        <p:nvSpPr>
          <p:cNvPr id="16" name="Shape 13"/>
          <p:cNvSpPr/>
          <p:nvPr/>
        </p:nvSpPr>
        <p:spPr>
          <a:xfrm>
            <a:off x="6492240" y="1874520"/>
            <a:ext cx="685800" cy="685800"/>
          </a:xfrm>
          <a:prstGeom prst="ellipse">
            <a:avLst/>
          </a:prstGeom>
          <a:solidFill>
            <a:srgbClr val="00A896"/>
          </a:solidFill>
          <a:ln/>
        </p:spPr>
      </p:sp>
      <p:pic>
        <p:nvPicPr>
          <p:cNvPr id="17" name="Image 1" descr="icons/rocke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56832" y="2039112"/>
            <a:ext cx="356616" cy="356616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7360920" y="1965960"/>
            <a:ext cx="3931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Scope</a:t>
            </a:r>
            <a:endParaRPr lang="en-US" sz="1600" dirty="0"/>
          </a:p>
        </p:txBody>
      </p:sp>
      <p:sp>
        <p:nvSpPr>
          <p:cNvPr id="19" name="Shape 15"/>
          <p:cNvSpPr/>
          <p:nvPr/>
        </p:nvSpPr>
        <p:spPr>
          <a:xfrm>
            <a:off x="6492240" y="2889504"/>
            <a:ext cx="128016" cy="128016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20" name="Text 16"/>
          <p:cNvSpPr/>
          <p:nvPr/>
        </p:nvSpPr>
        <p:spPr>
          <a:xfrm>
            <a:off x="6766560" y="2724912"/>
            <a:ext cx="46177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DCEF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longer with regularization (dropout, early stopping) to reduce overfitting risk</a:t>
            </a:r>
            <a:endParaRPr lang="en-US" sz="1300" dirty="0"/>
          </a:p>
        </p:txBody>
      </p:sp>
      <p:sp>
        <p:nvSpPr>
          <p:cNvPr id="21" name="Shape 17"/>
          <p:cNvSpPr/>
          <p:nvPr/>
        </p:nvSpPr>
        <p:spPr>
          <a:xfrm>
            <a:off x="6492240" y="3822192"/>
            <a:ext cx="128016" cy="128016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22" name="Text 18"/>
          <p:cNvSpPr/>
          <p:nvPr/>
        </p:nvSpPr>
        <p:spPr>
          <a:xfrm>
            <a:off x="6766560" y="3657600"/>
            <a:ext cx="46177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DCEF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Tune hidden-layer size, learning rate, and batch size systematically</a:t>
            </a:r>
            <a:endParaRPr lang="en-US" sz="1300" dirty="0"/>
          </a:p>
        </p:txBody>
      </p:sp>
      <p:sp>
        <p:nvSpPr>
          <p:cNvPr id="23" name="Shape 19"/>
          <p:cNvSpPr/>
          <p:nvPr/>
        </p:nvSpPr>
        <p:spPr>
          <a:xfrm>
            <a:off x="6492240" y="4754880"/>
            <a:ext cx="128016" cy="128016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24" name="Text 20"/>
          <p:cNvSpPr/>
          <p:nvPr/>
        </p:nvSpPr>
        <p:spPr>
          <a:xfrm>
            <a:off x="6766560" y="4590288"/>
            <a:ext cx="46177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DCEF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confusion matrix, precision/recall &amp; ROC-AUC for deeper evaluation</a:t>
            </a:r>
            <a:endParaRPr lang="en-US" sz="1300" dirty="0"/>
          </a:p>
        </p:txBody>
      </p:sp>
      <p:sp>
        <p:nvSpPr>
          <p:cNvPr id="25" name="Shape 21"/>
          <p:cNvSpPr/>
          <p:nvPr/>
        </p:nvSpPr>
        <p:spPr>
          <a:xfrm>
            <a:off x="6492240" y="5687568"/>
            <a:ext cx="128016" cy="128016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26" name="Text 22"/>
          <p:cNvSpPr/>
          <p:nvPr/>
        </p:nvSpPr>
        <p:spPr>
          <a:xfrm>
            <a:off x="6766560" y="5522976"/>
            <a:ext cx="46177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DCEF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as a simple web app for interactive predictions</a:t>
            </a:r>
            <a:endParaRPr lang="en-US" sz="1300" dirty="0"/>
          </a:p>
        </p:txBody>
      </p:sp>
      <p:sp>
        <p:nvSpPr>
          <p:cNvPr id="27" name="Text 23"/>
          <p:cNvSpPr/>
          <p:nvPr/>
        </p:nvSpPr>
        <p:spPr>
          <a:xfrm>
            <a:off x="640080" y="630936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9CF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  ·  Deepali Das  ·  Naviotech Solution Pvt. Ltd.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2026-07-19T08:40:02Z</dcterms:created>
  <dcterms:modified xsi:type="dcterms:W3CDTF">2026-07-19T08:40:02Z</dcterms:modified>
</cp:coreProperties>
</file>